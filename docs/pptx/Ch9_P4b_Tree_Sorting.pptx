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TITRE: Arbres BST &amp; Algorithmes de Tri
Critère: Critère P4b — Trees, sorting, traversal
Objectif de cette présentation : couvrir les concepts clés pour le critère Critère P4b — Trees, sorting, traversal.
Durée estimée : 1h30 à 2h avec exercices.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Dessiner un BST au tableau en insérant 50, 30, 70, 20, 40.
Faire parcourir aux étudiants en Inorder → 20, 30, 40, 50, 70 (trié !).
Piège : montrer ce qui arrive si on insère 10, 20, 30, 40 → arbre dégénéré.
Exercice : insérer 8, 3, 10, 1, 6, 14 et faire les 3 parcours.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Utiliser le site pour la démo visuelle (Monde 1 Ch3 → Simulateur de tri).
Pour chaque algo, poser la question : 'Combien de comparaisons pour n=1000 ?'
- Bubble : ~500 000
- Quick/Merge : ~10 000
Exercice : implémenter Bubble Sort en Java et compter les comparaisons.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Tableau comparatif au tableau :
|           | Temps moyen | Pire cas | Espace | Stable |
|-----------|------------|----------|--------|--------|
| Bubble    | O(n²)      | O(n²)    | O(1)   | Oui    |
| Quick     | O(n log n) | O(n²)    | O(log n)| Non   |
| Merge     | O(n log n) | O(n log n)| O(n)  | Oui    |
| Insertion | O(n²)      | O(n²)    | O(1)   | Oui    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Devoir : implémenter un BST simple avec insert() et inorderTraversal().
Site : Monde 3 Ch9 pour les parcours interactifs.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19 : Data Structures &amp; Algorithms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9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Arbres BST &amp; Algorithmes de Tri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P4b — Trees, sorting, traversal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F9731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0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Binaire de Recherche (BST)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nœud a au plus 2 enfants (gauche, droite)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Propriété BST : gauche &lt; racine &lt; droite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Recherche, insertion : O(log n) si équilibré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parcours : Inorder (G-R-D = trié), Preorder (R-G-D), Postorder (G-D-R)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Pire cas : arbre dégénéré → O(n) = liste chaînée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0D1117"/>
          </a:solidFill>
          <a:ln/>
        </p:spPr>
      </p:sp>
      <p:sp>
        <p:nvSpPr>
          <p:cNvPr id="6" name="Text 4"/>
          <p:cNvSpPr/>
          <p:nvPr/>
        </p:nvSpPr>
        <p:spPr>
          <a:xfrm>
            <a:off x="4937760" y="114300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50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/ 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30    70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/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20   40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Inorder:   20, 30, 40, 50, 70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Preorder:  50, 30, 20, 40, 70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Postorder: 20, 40, 30, 70, 50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Algorithmes de Tri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 : comparer paires adjacentes → O(n²)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Sort : insérer chaque élément à sa place → O(n²) mais O(n) si presque trié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Sort : partitionner autour d'un pivot → O(n log n) moyen, O(n²) pire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: diviser, trier, fusionner → O(n log n) garanti, stable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optimal par comparaison = O(n log n)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0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des algorithmes de tri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 : simple mais O(n²) — pédagogique seulement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Sort : très rapide en pratique, in-place, instable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: O(n log n) garanti, stable, mais O(n) espace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Sort : excellent pour petits tableaux et données presque triées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Arrays.sort() utilise TimSort (Merge + Insertion)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D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621280" cy="3200400"/>
          </a:xfrm>
          <a:prstGeom prst="roundRect">
            <a:avLst>
              <a:gd name="adj" fmla="val 3488"/>
            </a:avLst>
          </a:prstGeom>
          <a:solidFill>
            <a:srgbClr val="2D1A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262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🌳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234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2346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Gauche &lt; Racine &lt; Droite, O(log n)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52800" y="1097280"/>
            <a:ext cx="2621280" cy="3200400"/>
          </a:xfrm>
          <a:prstGeom prst="roundRect">
            <a:avLst>
              <a:gd name="adj" fmla="val 3488"/>
            </a:avLst>
          </a:prstGeom>
          <a:solidFill>
            <a:srgbClr val="2D1A00"/>
          </a:solidFill>
          <a:ln/>
        </p:spPr>
      </p:sp>
      <p:sp>
        <p:nvSpPr>
          <p:cNvPr id="8" name="Text 6"/>
          <p:cNvSpPr/>
          <p:nvPr/>
        </p:nvSpPr>
        <p:spPr>
          <a:xfrm>
            <a:off x="3352800" y="1280160"/>
            <a:ext cx="262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89960" y="1828800"/>
            <a:ext cx="234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89960" y="2286000"/>
            <a:ext cx="2346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Inorder = trié, Preorder = copie, Postorder = suppression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56960" y="1097280"/>
            <a:ext cx="2621280" cy="3200400"/>
          </a:xfrm>
          <a:prstGeom prst="roundRect">
            <a:avLst>
              <a:gd name="adj" fmla="val 3488"/>
            </a:avLst>
          </a:prstGeom>
          <a:solidFill>
            <a:srgbClr val="2D1A00"/>
          </a:solidFill>
          <a:ln/>
        </p:spPr>
      </p:sp>
      <p:sp>
        <p:nvSpPr>
          <p:cNvPr id="12" name="Text 10"/>
          <p:cNvSpPr/>
          <p:nvPr/>
        </p:nvSpPr>
        <p:spPr>
          <a:xfrm>
            <a:off x="6156960" y="1280160"/>
            <a:ext cx="262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94120" y="1828800"/>
            <a:ext cx="234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94120" y="2286000"/>
            <a:ext cx="2346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 optimal, Quick/Merge en pratique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Arbres BST &amp; Algorithmes de Tri</dc:title>
  <dc:subject>PptxGenJS Presentation</dc:subject>
  <dc:creator>Mme MBI - Unit 19</dc:creator>
  <cp:lastModifiedBy>Mme MBI - Unit 19</cp:lastModifiedBy>
  <cp:revision>1</cp:revision>
  <dcterms:created xsi:type="dcterms:W3CDTF">2026-03-23T00:04:28Z</dcterms:created>
  <dcterms:modified xsi:type="dcterms:W3CDTF">2026-03-23T00:04:28Z</dcterms:modified>
</cp:coreProperties>
</file>