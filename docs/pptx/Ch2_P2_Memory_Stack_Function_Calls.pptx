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TITRE : Memory Stack &amp; Function Calls</a:t>
            </a:r>
          </a:p>
          <a:p>
            <a:r>
              <a:t>Durée : 1h30</a:t>
            </a:r>
          </a:p>
          <a:p/>
          <a:p>
            <a:r>
              <a:t>Matériel : site → Monde 1 → Ch2 (simulateur call stack)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Dessiner au tableau la séparation Stack/Heap.</a:t>
            </a:r>
          </a:p>
          <a:p/>
          <a:p>
            <a:r>
              <a:t>Stack = rapide, automatique, LIFO</a:t>
            </a:r>
          </a:p>
          <a:p>
            <a:r>
              <a:t>Heap = dynamique, géré par le GC</a:t>
            </a:r>
          </a:p>
          <a:p/>
          <a:p>
            <a:r>
              <a:t>Question : 'Quand vous faites new ArrayList(), où est stocké l'objet ?' → Heap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Expliquer que la JVM utilise un STACK pour gérer les appels de fonctions.</a:t>
            </a:r>
          </a:p>
          <a:p/>
          <a:p>
            <a:r>
              <a:t>Chaque appel = un 'stack frame' empilé.</a:t>
            </a:r>
          </a:p>
          <a:p>
            <a:r>
              <a:t>Quand la fonction retourne = frame dépilé.</a:t>
            </a:r>
          </a:p>
          <a:p/>
          <a:p>
            <a:r>
              <a:t>Analogie : pile de dossiers sur un bureau. Le dernier posé est le premier traité.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Le stack frame contient :</a:t>
            </a:r>
          </a:p>
          <a:p>
            <a:r>
              <a:t>1. Variables locales</a:t>
            </a:r>
          </a:p>
          <a:p>
            <a:r>
              <a:t>2. Paramètres</a:t>
            </a:r>
          </a:p>
          <a:p>
            <a:r>
              <a:t>3. Adresse de retour</a:t>
            </a:r>
          </a:p>
          <a:p>
            <a:r>
              <a:t>4. Valeur de retour</a:t>
            </a:r>
          </a:p>
          <a:p/>
          <a:p>
            <a:r>
              <a:t>Dessiner un exemple au tableau avec main() qui appelle calculer(5,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Exercice en live : tracer le call stack étape par étape.</a:t>
            </a:r>
          </a:p>
          <a:p/>
          <a:p>
            <a:r>
              <a:t>1. main() empilé</a:t>
            </a:r>
          </a:p>
          <a:p>
            <a:r>
              <a:t>2. calculer(5,3) empilé au-dessus</a:t>
            </a:r>
          </a:p>
          <a:p>
            <a:r>
              <a:t>3. calculer retourne → dépilé</a:t>
            </a:r>
          </a:p>
          <a:p>
            <a:r>
              <a:t>4. main continue avec le résultat</a:t>
            </a:r>
          </a:p>
          <a:p/>
          <a:p>
            <a:r>
              <a:t>Utiliser le simulateur sur le site pour montrer visuellement.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828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645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Chapitre 2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Pile Mémoire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les Appels de Fonctions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: Déterminer les opérations d'une pile mémoire et comment elle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utilisée pour implémenter les appels de fonctions dans un ordinateur.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Objectifs du chapitre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051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comment la mémoire est organisée (stack vs heap)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97280" y="1783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 ce qui se passe quand on appelle une fonction</a:t>
            </a:r>
            <a:endParaRPr lang="en-US" sz="1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97280" y="2514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Visualiser le call stack (pile d'appels) étape par étape</a:t>
            </a:r>
            <a:endParaRPr lang="en-US" sz="16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9184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9728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récursivité à travers le stack</a:t>
            </a:r>
            <a:endParaRPr lang="en-US" sz="16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23360"/>
            <a:ext cx="320040" cy="32004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97280" y="3977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erreurs liées au stack (StackOverflowError)</a:t>
            </a:r>
            <a:endParaRPr lang="en-US" sz="1600" dirty="0"/>
          </a:p>
        </p:txBody>
      </p:sp>
      <p:sp>
        <p:nvSpPr>
          <p:cNvPr id="14" name="Text 7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5" name="Text 8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la mémoire est organisée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320040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05840"/>
            <a:ext cx="320040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51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 (Pile)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645920"/>
            <a:ext cx="2834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locales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de fonctions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Adresses de retour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FIXE (limitée)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— automatique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rapide (allocation O(1))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appel de fonction crée un "stack frame" (cadre) empilé au sommet.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0" y="1005840"/>
            <a:ext cx="365760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0" y="1005840"/>
            <a:ext cx="3657600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051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HEAP (Tas)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12080" y="16459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(new 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Instances de classes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DYNAMIQUE (grande)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par référence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lent (Garbage Collector)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Java, tous les objets vivent sur le heap. Les variables locales du stack contiennent des références vers le heap.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Stack Frame (cadre de pile)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appel de fonction crée un stack frame contenant 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200400" cy="6400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Adresse de retour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06240" y="13716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revenir quand la fonction finit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3200400" cy="6400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Paramètres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0" y="2148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arguments passés à la fonction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3200400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9260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Variables locales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06240" y="292608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variables déclarées dans la fonction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703320"/>
            <a:ext cx="3200400" cy="6400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703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Valeur de retour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06240" y="3703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L'espace réservé pour le résultat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solidFill>
            <a:srgbClr val="FFF7ED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52628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005840" y="4498848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la fonction se termine, son frame est "dépilé" (pop) et on revient à l'adresse de retour.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Exemple : tracer le call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4114800" cy="3931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37490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void main(String[] args)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resultat = calculer(5, 3);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System.out.println(resultat);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int calculer(int a, int b)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somme = additionner(a, b);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somme * 2;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int additionner(int x, int y)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+ 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846320" y="777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Stack (moment le plus profond) 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280160"/>
            <a:ext cx="3840480" cy="8229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280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additionner(5, 3)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x=5, y=3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2286000"/>
            <a:ext cx="3840480" cy="8229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22860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calculer(5, 3)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26974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a=5, b=3, somme=?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3291840"/>
            <a:ext cx="3840480" cy="82296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32918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3703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resultat=?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515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TOP (sommet)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BOTTOM (base)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39319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: main() appelle calculer() qui appelle additionner()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: additionner → calculer → main (LIFO !)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 : main() commence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Stack 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200400" cy="59436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4813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args=[]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2004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202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(vide)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32004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(vide)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0" y="914400"/>
            <a:ext cx="4572000" cy="1371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10058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main() est empilé. C'est le point d'entrée.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0" y="2468880"/>
            <a:ext cx="45720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0" y="248716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Ligne 2 : int resultat = calculer(5, 3);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 : calculer() est appelé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Stack 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200400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calculer(5,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4813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a=5, b=3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200400" cy="59436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202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21284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resultat=?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32004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6517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(vide)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0" y="914400"/>
            <a:ext cx="4572000" cy="1371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0058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calculer() est empilé AU-DESSUS de main(). main() est en pause.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0" y="2468880"/>
            <a:ext cx="45720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248716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Ligne 7 : int somme = additionner(a, b);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 : additionner() est appelé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Stack 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200400" cy="5943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additionner(5,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4813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x=5, y=3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200400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202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calculer(5, 3)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21284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a=5, b=3, somme=?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3200400" cy="59436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51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294436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resultat=?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0" y="914400"/>
            <a:ext cx="4572000" cy="1371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0" y="10058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frames empilés ! Le stack est au plus profond.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0" y="2468880"/>
            <a:ext cx="45720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0" y="248716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Ligne 12 : return x + y; → retourne 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4 : dépilage (retour)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Stack 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200400" cy="59436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481328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resultat=16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2004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202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(vide)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32004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(vide)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0" y="914400"/>
            <a:ext cx="4572000" cy="1371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10058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additionner retourne 8 → calculer calcule 8*2=16 → main reçoit 16. Tout est dépilé sauf main().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0" y="2468880"/>
            <a:ext cx="457200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0" y="248716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Ligne 3 : System.out.println(16);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Récursivité et le call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11480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int factorielle(int n)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(n &lt;= 1) return 1; // cas de base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* factorielle(n - 1);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factorielle(4) = 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0" y="914400"/>
            <a:ext cx="3657600" cy="457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212080" y="914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fact(1) →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0" y="1508760"/>
            <a:ext cx="3657600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21208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fact(2) → 2*1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2103120"/>
            <a:ext cx="3657600" cy="457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21031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fact(3) → 3*2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697480"/>
            <a:ext cx="3657600" cy="45720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0" y="2697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fact(4) → 4*6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640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TOP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appel récursif empile un NOUVEAU frame !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dépilage se fait dans l'ordre inverse : 1 → 2 → 6 → 24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factorielle(4) = 24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StackOverflowError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le stack déborde !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4114800" cy="18288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28016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⚠️ PAS DE CAS DE BASE 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void infini()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infini(); // s'appelle sans fin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StackOverflowError !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0" y="1188720"/>
            <a:ext cx="365760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5212080" y="128016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ça arrive 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stack a une taille LIMITÉE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appel empile un frame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cas de base, ça ne s'arrête JAMAIS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stack déborde → crash 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solidFill>
            <a:srgbClr val="EDE9F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38328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3337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éviter le StackOverflow 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7280" y="3749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Toujours un CAS DE BASE dans la récursion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S'assurer que les appels convergent vers le cas de base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Utiliser une boucle si la profondeur risque d'être trop grande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stack en Java : ce qu'il faut savoir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18288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Types primitifs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Quoi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Où ?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int, double, boolean, char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Valeur directe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563EB"/>
                          </a:solidFill>
                        </a:rPr>
                        <a:t>STACK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String, objet, tableau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Référence sur stack, objet sur heap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316"/>
                          </a:solidFill>
                        </a:rPr>
                        <a:t>STACK + HEAP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 ArrayList&lt;&gt;()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Référence sur stack, ArrayList sur heap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316"/>
                          </a:solidFill>
                        </a:rPr>
                        <a:t>STACK + HEAP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926080"/>
            <a:ext cx="8229600" cy="18288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301752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exemple()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age = 25;              // age est sur le STACK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nom = "Alice";      // référence sur STACK, "Alice" sur HEAP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Contact c = new Contact(); // référence sur STACK, objet sur HEAP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Quand exemple() finit : age, nom, c DISPARAISSENT du stack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Mais "Alice" et l'objet Contact RESTENT sur le heap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le Garbage Collector les nettoiera plus tard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00584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51560" y="9601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main() appelle a(), qui appelle b(), qui appelle c() — dans quel ordre les frames sont-ils dépilés 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51560" y="1737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 stack utilise LIFO et pas FIFO pour les appels de fonctions 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56032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60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51560" y="2514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est la différence entre une variable locale int x = 5 et un objet new Contact() en termes de mémoire 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33756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337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51560" y="3291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frames sont empilés pour factorielle(100) ? Est-ce un problème 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114800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14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51560" y="4069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comprendre le call stack aide-t-il au debugging ?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73152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guidé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le call stack de A → B → C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71600" y="292608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: 15 minutes | Format : sur papier + vérification Eclipse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Lire le code (3 fonctions qui s'appellent)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Dessiner le call stack à chaque étape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Prédire la sortie console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Vérifier avec un breakpoint dans Eclipse/IntelliJ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: tracez le call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731520"/>
            <a:ext cx="4572000" cy="3931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22960"/>
            <a:ext cx="42062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TraceStack {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static String formater(String s)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"[" + s.toUpperCase() + "]";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static void afficher(String msg)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f = formater(msg);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System.out.println(f);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void main(String[] args)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afficher("hello");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afficher("world");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212080" y="731520"/>
            <a:ext cx="347472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faire 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Dessinez le call stack quand formater("hello") s'exécute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Combien de fois formater() est-il empilé au total ?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Quelle est la sortie console ?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La profondeur max du stack est-elle 2 ou 3 ?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ajoutez un breakpoint dans Eclipse sur la ligne return et observez le call stack dans la vue Debug 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96012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mémoire est divisée en STACK (appels) et HEAP (objets)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155448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appel de fonction crée un stack frame (LIFO)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" y="214884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frame contient : adresse retour, paramètres, variables locales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8892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60120" y="274320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récursivité empile un frame PAR APPEL récursif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38328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60120" y="333756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StackOverflowError = trop de frames empilés (récursion infinie)</a:t>
            </a:r>
            <a:endParaRPr lang="en-US" sz="14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97764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960120" y="393192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Java : primitifs sur le stack, objets sur le heap (référence sur stack)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Ch.2 : Memory Stack (P2)</a:t>
            </a:r>
            <a:endParaRPr lang="en-US" sz="900" dirty="0"/>
          </a:p>
        </p:txBody>
      </p:sp>
      <p:sp>
        <p:nvSpPr>
          <p:cNvPr id="17" name="Text 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Plan de séance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1 (40 min) — Théorie mémoire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1-4 : Stack vs Heap, stack frame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: "Quand vous déclarez int x = 5, où va x ?"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2 (40 min) — Call stack pas à pas + live coding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5-9 : Tracer le stack étape par étape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: ouvrir Eclipse, mettre un breakpoint, montrer la vue Debug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étudiants voient le call stack EN VRAI dans l'IDE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3 (40 min) — Récursivité + StackOverflow + mini-jeu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10-11 + mini-jeu web (simulation call stack)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StackOverflowError en live (taper le code et exécuter)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4 (40 min) — Exercice guidé + exercice autonome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: exercice guidé TraceStack (sur papier + vérification IDE)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 : exercice complet (tracer la récursion de fibonacci)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Critères P2 + tips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P2 : Determine the operations of a memory stack and how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used to implement function calls in a computer.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 obtenir P2, l'étudiant doit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Décrire les opérations du stack mémoire (push frame / pop frame)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 le contenu d'un stack frame (adresse retour, params, vars)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un call stack pour un programme avec au moins 3 fonctions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 le lien LIFO ↔ appels de fonctions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Mentionner les cas d'erreur (StackOverflow, récursion infinie)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Astuce pédagogique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des post-its physiques pour simuler le stack en classe !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post-it = un frame. Empiler/dépiler au tableau.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étudiants comprennent LIFO immédiatement.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Ch.2 - Memory Stack &amp; Function Calls (P2)</dc:title>
  <dc:subject>PptxGenJS Presentation</dc:subject>
  <dc:creator>Mme MBI - Unit 19 Gamifié</dc:creator>
  <cp:lastModifiedBy>Mme MBI - Unit 19 Gamifié</cp:lastModifiedBy>
  <cp:revision>1</cp:revision>
  <dcterms:created xsi:type="dcterms:W3CDTF">2026-03-22T03:45:17Z</dcterms:created>
  <dcterms:modified xsi:type="dcterms:W3CDTF">2026-03-22T03:45:17Z</dcterms:modified>
</cp:coreProperties>
</file>