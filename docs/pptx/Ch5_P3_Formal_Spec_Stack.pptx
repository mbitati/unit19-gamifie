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TITRE: Spécification Formelle
d'un ADT Stack
Critère: Critère P3 — Notation impérative, VDM, SDL, ASN.1
Objectif de cette présentation : couvrir les concepts clés pour le critère Critère P3 — Notation impérative, VDM, SDL, ASN.1.
Durée estimée : 1h30 à 2h avec exercices.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Commencer par demander aux étudiants ce qu'est un ADT. Rappeler que la notation impérative est un CONTRAT.
Poser la question : 'Si je vous donne un Stack, quelles opérations attendez-vous ?'
Faire écrire au tableau les opérations avant de montrer la slide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Écrire la spec complète au tableau avec les étudiants.
Insister sur :
- PRE = ce qui DOIT être vrai AVANT l'appel
- POST = ce qui est GARANTI APRÈS l'appel
- INVARIANT = TOUJOURS vrai
- AXIOME = propriété mathématique fondamentale
Exercice : demander aux étudiants d'écrire la PRE de pop() et peek().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Expliquer pourquoi on n'écrit pas directement du Java.
Analogie : un architecte dessine des plans AVANT de construire. La spec formelle = les plans du logiciel.
Question aux étudiants : 'Que se passe-t-il si on code sans spécifier d'abord 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VDM vient de Vienne (IBM lab, années 1970).
hd = head (premier élément), tl = tail (reste de la liste)
Faire un parallèle avec la notation impérative vue avant.
Exercice : écrire en VDM l'invariant d'une Queue (len(q) &gt;= 0 et front est le premier élément).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SDL est visuel — montrer un diagramme simple.
Exemple : un distributeur de boissons
- État 'Attente' → reçoit signal 'Pièce' → État 'Prêt'
- État 'Prêt' → reçoit signal 'Choix' → État 'Distribution'
Faire dessiner aux étudiants un automate SDL pour un Stack (états: Vide, NonVide).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ASN.1 est utilisé partout sans qu'on le sache : HTTPS, cartes SIM, GPS.
Exemple concret :
Student ::= SEQUENCE {
  name     UTF8String,
  age      INTEGER,
  enrolled BOOLEAN
}
Faire écrire aux étudiants une structure ASN.1 pour un Produit (nom, prix, stock).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C'est LE slide le plus important du chapitre.
Exercice en classe : donner des énoncés et demander aux étudiants de classifier :
- 'solde &gt;= 0 toujours' → INVARIANT
- 'montant &gt; 0 avant retrait' → PRE
- 'solde = ancien_solde - montant après retrait' → POST
- 'retirer(déposer(compte, x)) restitue x' → AXIOME
Faire passer les étudiants au tableau.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Récap rapide — demander à 4 étudiants de résumer chaque concept en 1 phrase.
Devoir : spécifier formellement un ADT Queue en notation impérative + VDM.
Rappeler le lien avec le jeu en ligne (unite19-gamifie.vercel.app) pour réviser.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19 : Data Structures &amp; Algorithms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Spécification Formelle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d'un ADT Stack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P3 — Notation impérative, VDM, SDL, ASN.1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qu'une notation impérative 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façon STRUCTURÉE de décrire un ADT avec des mots-clés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OPERATION, PRE (précondition), POST (postcondition)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du code Java — c'est du pseudo-code formel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Indépendant du langage de programmation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décrire le QUOI sans le COMMENT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impérative : Stack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ADT Stack&lt;E&gt; — type générique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Collection LIFO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opérations : push, pop, peek, isEmpty, size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opération a PRE et POST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INVARIANT: size() &gt;= 0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AXIOME: pop(push(S,e)) = &lt;e, S&gt;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0D1117"/>
          </a:solidFill>
          <a:ln/>
        </p:spPr>
      </p:sp>
      <p:sp>
        <p:nvSpPr>
          <p:cNvPr id="6" name="Text 4"/>
          <p:cNvSpPr/>
          <p:nvPr/>
        </p:nvSpPr>
        <p:spPr>
          <a:xfrm>
            <a:off x="4937760" y="114300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ADT Stack&lt;E&gt;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Collection LIFO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 push(e: E) → void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PRE: aucune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POST: e au sommet, size += 1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 pop() → 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PRE: isEmpty() == false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POST: sommet retiré, size -= 1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INVARIANT: size() &gt;= 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Langages de spécification non exécutables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pour décrire formellement un système SANS générer de code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Réduisent les erreurs de conception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Facilitent la vérification et la communication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exemples majeurs : VDM, SDL, ASN.1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: vérifications automatiques possibles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VDM (Vienna Development Method)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formelle basée sur la logique mathématique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 le symbole ≜ (est défini comme)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Pré-conditions : pre-push(e) ≜ true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Post-conditions : post-pop(s, result) ≜ result = hd(s) ∧ s' = tl(s)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Invariants : inv-Stack(s) ≜ len(s) ≥ 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0D1117"/>
          </a:solidFill>
          <a:ln/>
        </p:spPr>
      </p:sp>
      <p:sp>
        <p:nvSpPr>
          <p:cNvPr id="6" name="Text 4"/>
          <p:cNvSpPr/>
          <p:nvPr/>
        </p:nvSpPr>
        <p:spPr>
          <a:xfrm>
            <a:off x="4937760" y="114300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Notation VDM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pre-push(e) ≜ true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post-pop(s, result) 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 = hd(s) ∧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s' = tl(s)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inv-Stack(s) 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len(s) ≥ 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 (Specification and Description Language)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 GRAPHIQUE pour systèmes réactifs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Basé sur des automates : états + transitions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 = rectangle arrondi avec états internes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= événement envoyé entre processus (flèche)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Utilisé en télécom, systèmes embarqués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Complémentaire à VDM (graphique vs textuel)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ASN.1 (Abstract Syntax Notation One)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standard ISO pour décrire structures de données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Indépendant du langage de programmation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SEQUENCE = équivalent d'un objet/struct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Utilisé pour les protocoles réseau, certificats SSL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 l'encodage automatique (BER, DER, PER)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0D1117"/>
          </a:solidFill>
          <a:ln/>
        </p:spPr>
      </p:sp>
      <p:sp>
        <p:nvSpPr>
          <p:cNvPr id="6" name="Text 4"/>
          <p:cNvSpPr/>
          <p:nvPr/>
        </p:nvSpPr>
        <p:spPr>
          <a:xfrm>
            <a:off x="4937760" y="114300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Exemple ASN.1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::= SEQUENCE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UTF8String,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      INTEGER (0..150),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enrolled BOOLEAN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 ::= SEQUENCE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elements SEQUENCE OF ANY,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size     INTEGER (0..MAX)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/ POST / INVARIANT / AXIOME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PRE-condition : ce qui DOIT être vrai AVANT l'appel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POST-condition : ce qui est GARANTI APRÈS l'appel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: ce qui est TOUJOURS vrai entre les opérations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AXIOME : propriété mathématique fondamentale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PRE: isEmpty() == false avant pop()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AXIOME: pop(push(S,e)) = &lt;e, S&gt;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— Spécification formelle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920240" cy="3200400"/>
          </a:xfrm>
          <a:prstGeom prst="roundRect">
            <a:avLst>
              <a:gd name="adj" fmla="val 4762"/>
            </a:avLst>
          </a:prstGeom>
          <a:solidFill>
            <a:srgbClr val="13374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impérative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1645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OPERATION, PRE, POST — le contrat formel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51760" y="1097280"/>
            <a:ext cx="1920240" cy="3200400"/>
          </a:xfrm>
          <a:prstGeom prst="roundRect">
            <a:avLst>
              <a:gd name="adj" fmla="val 4762"/>
            </a:avLst>
          </a:prstGeom>
          <a:solidFill>
            <a:srgbClr val="133740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1280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📐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88920" y="1828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88920" y="2286000"/>
            <a:ext cx="1645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mathématique avec ≜, pré/post/invariants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1920240" cy="3200400"/>
          </a:xfrm>
          <a:prstGeom prst="roundRect">
            <a:avLst>
              <a:gd name="adj" fmla="val 4762"/>
            </a:avLst>
          </a:prstGeom>
          <a:solidFill>
            <a:srgbClr val="13374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280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892040" y="1828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2286000"/>
            <a:ext cx="1645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Diagrammes graphiques états + transitions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0" y="1097280"/>
            <a:ext cx="1920240" cy="3200400"/>
          </a:xfrm>
          <a:prstGeom prst="roundRect">
            <a:avLst>
              <a:gd name="adj" fmla="val 4762"/>
            </a:avLst>
          </a:prstGeom>
          <a:solidFill>
            <a:srgbClr val="13374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1280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🔤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995160" y="1828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ASN.1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95160" y="2286000"/>
            <a:ext cx="1645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de structure de données inter-systèmes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Spécification formelle d'un Stack</dc:title>
  <dc:subject>PptxGenJS Presentation</dc:subject>
  <dc:creator>Mme MBI - Unit 19</dc:creator>
  <cp:lastModifiedBy>Mme MBI - Unit 19</cp:lastModifiedBy>
  <cp:revision>1</cp:revision>
  <dcterms:created xsi:type="dcterms:W3CDTF">2026-03-23T00:04:28Z</dcterms:created>
  <dcterms:modified xsi:type="dcterms:W3CDTF">2026-03-23T00:04:28Z</dcterms:modified>
</cp:coreProperties>
</file>