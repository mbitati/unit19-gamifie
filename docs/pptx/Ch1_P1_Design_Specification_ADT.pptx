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TITRE : Design Specification des ADT</a:t>
            </a:r>
          </a:p>
          <a:p>
            <a:r>
              <a:t>Durée : 2h</a:t>
            </a:r>
          </a:p>
          <a:p/>
          <a:p>
            <a:r>
              <a:t>Objectif : les étudiants doivent comprendre ce qu'est un ADT et savoir les différencier des structures concrètes.</a:t>
            </a:r>
          </a:p>
          <a:p/>
          <a:p>
            <a:r>
              <a:t>Matériel : site unite19-gamifie.vercel.app → Monde 1 → Ch1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Commencer par demander 'Qu'est-ce qu'une structure de données ?'</a:t>
            </a:r>
          </a:p>
          <a:p>
            <a:r>
              <a:t>Laisser les étudiants répondre avant de montrer la slide.</a:t>
            </a:r>
          </a:p>
          <a:p/>
          <a:p>
            <a:r>
              <a:t>Objectifs à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ADT = Type Abstrait de Données.</a:t>
            </a:r>
          </a:p>
          <a:p/>
          <a:p>
            <a:r>
              <a:t>Analogie : un ADT est comme le MODE D'EMPLOI d'un appareil. Il dit CE QU'ON PEUT FAIRE sans expliquer COMMENT ça fonctionne à l'intérieur.</a:t>
            </a:r>
          </a:p>
          <a:p/>
          <a:p>
            <a:r>
              <a:t>Exemple : l'ADT 'Télévision' a les opérations : allumer(), éteindre(), changerChaine(), réglerVolume(). On n'a pas besoin de savoir comment l'écran affiche les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C'est LE concept clé à faire passer.</a:t>
            </a:r>
          </a:p>
          <a:p/>
          <a:p>
            <a:r>
              <a:t>ADT List → peut être implémenté par ArrayList OU LinkedList.</a:t>
            </a:r>
          </a:p>
          <a:p>
            <a:r>
              <a:t>Même interface (add, get, remove) mais performance différente.</a:t>
            </a:r>
          </a:p>
          <a:p/>
          <a:p>
            <a:r>
              <a:t>Question : 'Si je veux accéder souvent par index, quelle implémentation je choisis ?' → ArrayList O(1) vs LinkedList O(n).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Parcourir les 5 ADT fondamentaux.</a:t>
            </a:r>
          </a:p>
          <a:p/>
          <a:p>
            <a:r>
              <a:t>Pour chacun, demander à un étudiant de donner un exemple de la vie réelle :</a:t>
            </a:r>
          </a:p>
          <a:p>
            <a:r>
              <a:t>- List → liste de courses</a:t>
            </a:r>
          </a:p>
          <a:p>
            <a:r>
              <a:t>- Stack → pile d'assiettes</a:t>
            </a:r>
          </a:p>
          <a:p>
            <a:r>
              <a:t>- Queue → file d'attente au cinéma</a:t>
            </a:r>
          </a:p>
          <a:p>
            <a:r>
              <a:t>- Map → dictionnaire (mot → définition)</a:t>
            </a:r>
          </a:p>
          <a:p>
            <a:r>
              <a:t>- Set → collection de timbres (pas de doublons)</a:t>
            </a:r>
          </a:p>
          <a:p/>
          <a:p>
            <a:r>
              <a:t>Exercice : ouvrir le site et faire le jeu drag-and-drop des opérations.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Specification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Structures de Données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Créer une spécification de conception pour les structures de données,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expliquant les opérations valides sur ces structures.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Examiner les ADT, structures concrètes et algorithmes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chapitre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 qu'est un Type Abstrait de Données (ADT)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Différencier ADT abstrait vs structure de données concrète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opérations valides sur une structure (CRUD, recherche, tri)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spécification de conception complète pour un ADT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ces concepts à un cas concret en Java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qu'un ADT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 = Type Abstrait de Données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ADT est un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mathématique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définit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stockées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opérations possibles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/ contraintes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dire comment c'est implémenté 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173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Analogie : la télécommande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201168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télécommande TV est un ADT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: allumer, éteindre, changer chaîne, volume +/-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savez QUOI faire, mais pas COMMENT ça marche à l'intérieur (infrarouge, bluetooth...)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l'abstraction !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vs Structure de données concrète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ADT (Abstrait)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Structure concrète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Spécification logique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(QUOI)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Implémentation réelle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: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add(), remove(), get(),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size(), contains()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 (tableau)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 (chaîne)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: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enqueue(), dequeue(),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peek(), isEmpty()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ArrayDeque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: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put(), get(), remove(),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containsKey()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 (hash table)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TreeMap (arbre)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434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ADT peut avoir PLUSIEURS implémentations concrètes différentes !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ADT fondamentaux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ordonnée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index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48840" y="1097280"/>
            <a:ext cx="15544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148840" y="1097280"/>
            <a:ext cx="1554480" cy="7315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240280" y="23774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entré,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sorti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840480" y="1097280"/>
            <a:ext cx="15544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3840480" y="1097280"/>
            <a:ext cx="1554480" cy="7315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931920" y="23774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entré,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sorti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532120" y="1097280"/>
            <a:ext cx="15544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5532120" y="1097280"/>
            <a:ext cx="1554480" cy="7315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1887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23560" y="23774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clé-valeur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clé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223760" y="1097280"/>
            <a:ext cx="15544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7223760" y="1097280"/>
            <a:ext cx="1554480" cy="7315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1887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315200" y="237744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Appartenance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List : les opérations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Opération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CRUD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un élément en fin de liste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add(index, 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Insérer un élément à une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get(index)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Récupérer l'élément à une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set(index, 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Remplacer un élément à une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remove(index)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l'élément à une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Retourner le nombre d'éléments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contains(element)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si un élément existe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isEmpty()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si la liste est vide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indexOf(element)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Trouver la position d'un élément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tous les éléments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Stack : les opérations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= Last In, First Out (comme une pile d'assiettes)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743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(top)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27432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(bottom)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475488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9144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Opération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Coût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push(element)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Empiler : ajouter au sommet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Dépiler : retirer du sommet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peek() / top()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Consulter le sommet sans retirer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isEmpty()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si la pile est vide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d'éléments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931920" y="3931920"/>
            <a:ext cx="4754880" cy="73152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0233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80560" y="3977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fondamentale : on ne peut accéder QU'AU sommet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par index comme dans une List.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Queue : les opérations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= First In, First Out (comme une file d'attente)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118872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188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23360" y="1554480"/>
            <a:ext cx="1188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118872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enqueue(E)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18288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Opération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Coût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enqueue(element)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en fin de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dequeue()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du début de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peek() / front()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Consulter le premier sans retirer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isEmpty()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si la file est vide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d'éléments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ADT Map : les opérations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clé-valeur (comme un dictionnaire)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1645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011680"/>
            <a:ext cx="1645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1371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651760"/>
            <a:ext cx="1645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280160"/>
          <a:ext cx="429768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82296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Opération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Coût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put(key, value)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/ modifier une paire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get(key)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Récupérer la valeur d'une clé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remove(key)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une paire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containsKey(key)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si une clé existe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paires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keySet()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de toutes les clés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3891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en moyenne avec HashMap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Créer une Design Specification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630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livrable attendu pour le critère P1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45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Nom de l'ADT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40480" y="16459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Stack, Queue, ContactList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Description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40480" y="2286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But, cas d'utilisation, contraintes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Types de données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40480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données sont stockées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Opérations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40480" y="3566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Signature, paramètres, retour, préconditions, postconditions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Contraintes / Invariants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840480" y="4206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qui doivent TOUJOURS être vraies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partie est essentielle pour une spécification complète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Spec complète d'un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ADT : Stack&lt;E&gt;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: Collection LIFO. Le dernier élément ajouté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est le premier retiré.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de données : E (type générique)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Opérations 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push(element: E) -&gt; void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aucune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element est au sommet, size +=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pop() -&gt; 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isEmpty() == false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sommet retiré et retourné, size -=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peek() -&gt; 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isEmpty() == false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retourne sommet SANS le retirer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isEmpty() -&gt; boolean   |   size() -&gt; int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Invariants :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size &gt;= 0 toujours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pop/peek impossible si isEmpty() == true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push puis pop retourne le même élément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Préconditions et postconditions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Précondition (PRE)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doit être VRAI 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d'appeler l'opération.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: la pile ne doit pas être vide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get(i) : 0 &lt;= i &lt; size()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remove(key) : key existe dans la 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Postcondition (POST)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GARANTI comme VRAI </a:t>
            </a:r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l'appel.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push(e) : e est au sommet, size += 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 : isEmpty() == true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add(e) : contains(e) == true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Invariant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TOUJOURS vrai, peu importe quand on regarde. Ex : size &gt;= 0, pas de doublons dans un Set.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Passons à la pratique 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88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d'un ADT ContactList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une entreprise veut gérer sa liste de contacts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contact a : nom, email, téléphone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doit pouvoir : ajouter, chercher, supprimer, lister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doublons (même email = même contact)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 d'abord SPÉCIFIER l'ADT, puis l'IMPLÉMENTER en Java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Spec : ADT ContactList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ADT : ContactList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: Gère une collection de contacts. Pas de doublons.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Recherche par email (identifiant unique).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: Contact { nom: String, email: String, tel: String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Opérations 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ajouterContact(c: Contact) -&gt; boolean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c != null, c.email != null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si email n'existe pas -&gt; ajouté, return true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si email existe déjà  -&gt; non ajouté, return false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rechercherParEmail(email: String) -&gt; Contact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email != null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retourne le Contact ou null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supprimerContact(email: String) -&gt; boolean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Pré  : email != null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: si trouvé -&gt; supprimé, size -=1, return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listerContacts() -&gt; List&lt;Contact&gt;   |  taille() -&gt; int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Invariants : size &gt;= 0 | pas de doublons d'email | ordre stable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Implémentation : Contact.java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Contact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email;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telephone;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Constructeur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Contact(String nom, String 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String telephone)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 = nom;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this.email = email;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this.telephone = telephone;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getNom() { return nom;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getEmail() { return email;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getTelephone() { return telephone;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nom + " | " + email + " | " + telephone;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GestionContacts.java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java.util.LinkedList;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GestionContacts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LinkedList&lt;Contact&gt; contacts;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GestionContacts()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this.contacts = new LinkedList&lt;&gt;();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CREATE - Ajouter un contact (pas de doublons)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ajouterContact(Contact c)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 == null || c.getEmail() == null)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false; // Précondition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Vérifier doublon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(rechercherParEmail(c.getEmail()) != null)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false; // Invariant: pas de doublons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contacts.add(c);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 // Postcondition: ajouté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GestionContacts.java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- Rechercher par email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Contact rechercherParEmail(String email)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(Contact c : contacts)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(c.getEmail().equals(email))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c;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null;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DELETE - Supprimer par email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supprimerContact(String email)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 c = rechercherParEmail(email);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 != null)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contacts.remove(c);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- Lister tous les contacts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LinkedList&lt;Contact&gt; listerContacts()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contacts;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taille() { return contacts.size(); }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spec au code : le lien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Précondition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3657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 == null) return false;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début de méthode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2860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Postcondition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65960"/>
            <a:ext cx="3657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contacts.add(c); return true;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le résultat promis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2860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26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Invariant (pas de doublons)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926080"/>
            <a:ext cx="3657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(rechercher(...) != null) return false;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AVANT de modifier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2860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d'opération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3886200"/>
            <a:ext cx="3657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3886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ajouter(Contact c)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paramètres et retour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5196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42245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 est le CONTRAT. Le code est l'IMPLÉMENTATION du contrat.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07899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78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séparer la spécification (ADT) de l'implémentation (code)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5623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856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remplace LinkedList par ArrayList dans GestionContacts, est-ce que la spec change 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appelle pop() sur un Stack vide et qu'on n'a pas vérifié la précondition 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41071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10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3337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ADT utiliseriez-vous pour gérer une file d'attente au cinéma ? Pourquoi 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8795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Set et une List peuvent tous les deux stocker des éléments. Quelle est la différence fondamentale 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un ADT StudentDirectory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un lycée veut gérer son annuaire d'étudiants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20 minutes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étape par étape, on fait ensemble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étudiant a : matricule, nom, prenom, classe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: inscrire, rechercher par matricule, lister par classe, supprimer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1 : Identifier les données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Posez-vous ces questions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informations faut-il stocker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l'identifiant unique 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contraintes sur les données 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058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Réponse 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: Etudiant {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matricule: String  // unique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nom: String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prenom: String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classe: String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à vous : écrivez cette partie sur votre feuille 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2 : Définir les opérations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opération, définir : nom, paramètres, retour, pré/postconditions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inscrire(e: Etudiant) -&gt; boolean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Pré  : e != null, e.matricule != null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: si matricule unique -&gt; ajouté,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rechercherParMatricule(m: String) -&gt; Etudiant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Pré  : m != null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: retourne l'Etudiant ou null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listerParClasse(classe: String) -&gt; List&lt;Etudiant&gt;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Pré  : classe != null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: retourne tous les étudiants de cette classe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supprimer(m: String) -&gt; boolean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Pré  : m != null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: si trouvé -&gt; supprimé, size -= 1, true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nombreEtudiants() -&gt; int  |  estVide() -&gt; boolean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3 : Définir les invariants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invariants sont les règles TOUJOURS vraies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nombreEtudiants() &gt;= 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deux étudiants avec le même matricule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Après inscrire(e), rechercherParMatricule(e.matricule) != null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Après supprimer(m), rechercherParMatricule(m) == null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947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bonus : pouvez-vous trouver un 5e invariant 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: pensez à ce qui se passe avec listerParClasse...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 du chapitre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05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ADT définit QUOI (opérations) sans dire COMMENT (implémentation)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ADT fondamentaux : List, Stack, Queue, Map, Set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194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opération a des préconditions et postconditions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346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2788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invariants sont des règles toujours vraies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383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design specification est le CONTRAT entre spec et implémentation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23360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3977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Java, on implémente les ADT avec les collections (LinkedList, HashMap...)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Ch.1 : Design Specification (P1)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 étape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74720" cy="13716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sur les ADT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des opérations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Java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ADT complet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code fourni + scoring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 min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3291840"/>
            <a:ext cx="7955280" cy="10972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83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 bonus (optionnel)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914400" y="3840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et implémenter un ADT ShoppingCart (panier e-commerce) avec gestion des quantités et calcul du total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 pas projeter aux étudiants)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(4 périodes = 2h40 effectives)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1 (40 min) — Théorie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1-9 : ADT, opérations, List/Stack/Queue/Map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des questions : "C'est quoi une pile dans la vraie vie 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2 (40 min) — Design Spec + Live Coding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10-18 : Spec + implémentation ContactList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: coder Contact.java et GestionContacts.java ensemble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codent en même temps sur Eclipse/IntelliJ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3 (40 min) — Mini-jeu + Exercice guidé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: mini-jeu web (quiz ADT interactif)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: exercice guidé StudentDirectory (slides 20-23)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4 (40 min) — Exercice autonome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Java complet (contexte entreprise) avec starter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bonus pour les plus rapides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Pièges courants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Erreurs fréquentes des étudiants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ADT et classe Java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Rappeler : l'ADT est le concept, la classe est UNE implémentation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les préconditions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ce qui se passe quand on appelle get(-1) sans vérification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que tous les ADT se valent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l'exercice "quel ADT pour quel problème" (file d'attente = Queue, etc.)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comprendre l'intérêt de la spec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du contrat de travail : on définit les responsabilités AVANT de commencer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à souligner 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CRUD est un pattern universel (Create Read Update Delete)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Java, List/Map/Set sont des INTERFACES (= ADT), ArrayList/HashMap sont des CLASSES (= implémentation)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lier la théorie à un cas concret d'entreprise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Critères P1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P1 : Create a design specification for data structures,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the valid operations that can be carried out on the structures.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obtenir P1, l'étudiant doit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au moins 2 ADT différents (ex: List + Map)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ADT, fournir une spécification incluant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Le nom et la description de l'ADT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Les types de données stockées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Les opérations avec signatures complètes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Les préconditions et postconditions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Les invariants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pourquoi chaque opération est valide et utile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Lien avec le devoir (assignment)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leur rapport, les étudiants devront produire cette spec pour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 ADT dans le contexte de leur projet (parking, bibliothèque...)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Ch.1 - Design Specification des ADT (P1)</dc:title>
  <dc:subject>PptxGenJS Presentation</dc:subject>
  <dc:creator>Mme MBI - Unit 19 Gamifié</dc:creator>
  <cp:lastModifiedBy>Mme MBI - Unit 19 Gamifié</cp:lastModifiedBy>
  <cp:revision>1</cp:revision>
  <dcterms:created xsi:type="dcterms:W3CDTF">2026-03-22T03:28:21Z</dcterms:created>
  <dcterms:modified xsi:type="dcterms:W3CDTF">2026-03-22T03:28:21Z</dcterms:modified>
</cp:coreProperties>
</file>