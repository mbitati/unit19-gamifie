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19 : Data Structures &amp; Algorithms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828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16459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Chapitre 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Specification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Structures de Données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731520" y="3657600"/>
            <a:ext cx="22860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: Créer une spécification de conception pour les structures de données,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expliquant les opérations valides sur ces structures.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31520" y="4572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LO1 — Examiner les ADT, structures concrètes et algorithmes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Objectifs du chapitre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097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ce qu'est un Type Abstrait de Données (ADT)</a:t>
            </a:r>
            <a:endParaRPr lang="en-US" sz="1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8872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Différencier ADT abstrait vs structure de données concrète</a:t>
            </a:r>
            <a:endParaRPr lang="en-US" sz="16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06040"/>
            <a:ext cx="365760" cy="3657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8872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les opérations valides sur une structure (CRUD, recherche, tri)</a:t>
            </a:r>
            <a:endParaRPr lang="en-US" sz="16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37560"/>
            <a:ext cx="365760" cy="36576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188720" y="3291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une spécification de conception complète pour un ADT</a:t>
            </a:r>
            <a:endParaRPr lang="en-US" sz="16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6908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188720" y="4023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Appliquer ces concepts à un cas concret en Java</a:t>
            </a:r>
            <a:endParaRPr lang="en-US" sz="1600" dirty="0"/>
          </a:p>
        </p:txBody>
      </p:sp>
      <p:sp>
        <p:nvSpPr>
          <p:cNvPr id="14" name="Shape 7"/>
          <p:cNvSpPr/>
          <p:nvPr/>
        </p:nvSpPr>
        <p:spPr>
          <a:xfrm>
            <a:off x="457200" y="4572000"/>
            <a:ext cx="8229600" cy="3657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8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16" name="Text 9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Qu'est-ce qu'un ADT 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Data Type = Type Abstrait de Données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31920" cy="2926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371600"/>
            <a:ext cx="393192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Définition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566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ADT est un </a:t>
            </a:r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mathématique</a:t>
            </a:r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 définit 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stockées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opérations possibles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règles / contraintes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dire comment c'est implémenté !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931920" cy="2926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371600"/>
            <a:ext cx="3931920" cy="502920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417320"/>
            <a:ext cx="320040" cy="320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303520" y="1417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Analogie : la télécommande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937760" y="2011680"/>
            <a:ext cx="3566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télécommande TV est un ADT 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: allumer, éteindre, changer chaîne, volume +/-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savez QUOI faire, mais pas COMMENT ça marche à l'intérieur (infrarouge, bluetooth...)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l'abstraction !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3/28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ADT vs Structure de données concrète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ADT (Abstrait)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Structure concrète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Définition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Spécification logique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(QUOI)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Implémentation réelle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(COMMENT)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Exemple : 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add(), remove(), get(),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size(), contains()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ArrayList (tableau)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LinkedList (chaîne)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Exemple : Queue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enqueue(), dequeue(),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peek(), isEmpty()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ArrayDeque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PriorityQueue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Exemple : Map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put(), get(), remove(),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containsKey()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HashMap (hash table)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TreeMap (arbre)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FFF7E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34340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05840" y="4315968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même ADT peut avoir PLUSIEURS implémentations concrètes différentes !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ADT fondamentaux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554480" cy="3291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1554480" cy="731520"/>
          </a:xfrm>
          <a:prstGeom prst="rect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1887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1920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ordonnée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par index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148840" y="1097280"/>
            <a:ext cx="1554480" cy="3291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2148840" y="1097280"/>
            <a:ext cx="1554480" cy="7315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18872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148840" y="1920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2240280" y="237744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Dernier entré,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sorti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840480" y="1097280"/>
            <a:ext cx="1554480" cy="3291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3840480" y="1097280"/>
            <a:ext cx="1554480" cy="731520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1887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840480" y="1920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Queue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3931920" y="237744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entré,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sorti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532120" y="1097280"/>
            <a:ext cx="1554480" cy="3291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5"/>
          <p:cNvSpPr/>
          <p:nvPr/>
        </p:nvSpPr>
        <p:spPr>
          <a:xfrm>
            <a:off x="5532120" y="1097280"/>
            <a:ext cx="1554480" cy="731520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18872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32120" y="1920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623560" y="237744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Paires clé-valeur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par clé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7223760" y="1097280"/>
            <a:ext cx="1554480" cy="3291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19"/>
          <p:cNvSpPr/>
          <p:nvPr/>
        </p:nvSpPr>
        <p:spPr>
          <a:xfrm>
            <a:off x="7223760" y="1097280"/>
            <a:ext cx="1554480" cy="73152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1188720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223760" y="1920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7315200" y="237744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doublons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Appartenance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ADT List : les opérations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3840480"/>
        </p:xfrm>
        <a:graphic>
          <a:graphicData uri="http://schemas.openxmlformats.org/drawingml/2006/table">
            <a:tbl>
              <a:tblPr/>
              <a:tblGrid>
                <a:gridCol w="2560320"/>
                <a:gridCol w="384048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Opération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Description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CRUD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add(element)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Ajouter un élément en fin de liste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add(index, element)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Insérer un élément à une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get(index)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Récupérer l'élément à une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set(index, element)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Remplacer un élément à une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73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remove(index)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Supprimer l'élément à une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size()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Retourner le nombre d'éléments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contains(element)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Vérifier si un élément existe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isEmpty()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Vérifier si la liste est vide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indexOf(element)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Trouver la position d'un élément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clear()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Supprimer tous les éléments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6/28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ADT Stack : les opérations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LIFO = Last In, First Out (comme une pile d'assiettes)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274320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630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 (top)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274320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031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274320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7432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2743200" cy="502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(bottom)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1188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push(E)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86000" y="1188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pop()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371600"/>
          <a:ext cx="475488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914400"/>
              </a:tblGrid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Opération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Description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Coût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push(element)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Empiler : ajouter au sommet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pop()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Dépiler : retirer du sommet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peek() / top()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Consulter le sommet sans retirer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isEmpty()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Vérifier si la pile est vide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size()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d'éléments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3931920" y="3931920"/>
            <a:ext cx="4754880" cy="731520"/>
          </a:xfrm>
          <a:prstGeom prst="rect">
            <a:avLst/>
          </a:prstGeom>
          <a:solidFill>
            <a:srgbClr val="EDE9FE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023360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480560" y="39776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 fondamentale : on ne peut accéder QU'AU sommet !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d'accès par index comme dans une List.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ADT Queue : les opérations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= First In, First Out (comme une file d'attente)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97280" y="1554480"/>
            <a:ext cx="1188720" cy="7315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55448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560320" y="1554480"/>
            <a:ext cx="1188720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2560320" y="155448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023360" y="1554480"/>
            <a:ext cx="1188720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4023360" y="155448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0" y="1554480"/>
            <a:ext cx="1188720" cy="7315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0" y="155448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74320" y="16916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dequeue()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949440" y="16916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enqueue(E)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8229600" cy="2286000"/>
        </p:xfrm>
        <a:graphic>
          <a:graphicData uri="http://schemas.openxmlformats.org/drawingml/2006/table">
            <a:tbl>
              <a:tblPr/>
              <a:tblGrid>
                <a:gridCol w="2560320"/>
                <a:gridCol w="3840480"/>
                <a:gridCol w="1828800"/>
              </a:tblGrid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Opération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Description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Coût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enqueue(element)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Ajouter en fin de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dequeue()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Retirer du début de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peek() / front()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Consulter le premier sans retirer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isEmpty()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Vérifier si la file est vide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size()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d'éléments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8/28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ADT Map : les opérations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Paires clé-valeur (comme un dictionnaire)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1371600" cy="4572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1371600"/>
            <a:ext cx="164592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3716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011680"/>
            <a:ext cx="1371600" cy="4572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116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286000" y="2011680"/>
            <a:ext cx="164592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2286000" y="20116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2651760"/>
            <a:ext cx="1371600" cy="4572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651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ville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86000" y="2651760"/>
            <a:ext cx="164592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2286000" y="26517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3383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33832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280160"/>
          <a:ext cx="4297680" cy="27432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822960"/>
              </a:tblGrid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Opération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Description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Coût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7316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put(key, value)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Ajouter / modifier une paire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O(1)*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get(key)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Récupérer la valeur d'une clé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O(1)*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remove(key)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Supprimer une paire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O(1)*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containsKey(key)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Vérifier si une clé existe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O(1)*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size()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de paires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keySet()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 de toutes les clés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4389120" y="4114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en moyenne avec HashMap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9/28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Créer une Design Specification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1463040" y="1005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livrable attendu pour le critère P1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31520" y="1645920"/>
            <a:ext cx="768096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6459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Nom de l'ADT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840480" y="16459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Stack, Queue, ContactList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31520" y="2286000"/>
            <a:ext cx="768096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22860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Description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840480" y="22860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But, cas d'utilisation, contraintes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31520" y="2926080"/>
            <a:ext cx="768096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29260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Types de données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840480" y="29260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Quelles données sont stockées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31520" y="3566160"/>
            <a:ext cx="7680960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5661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Opérations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840480" y="35661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Signature, paramètres, retour, préconditions, postconditions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31520" y="4206240"/>
            <a:ext cx="768096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42062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Contraintes / Invariants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840480" y="4206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qui doivent TOUJOURS être vraies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31520" y="4572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partie est essentielle pour une spécification complète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Exemple : Spec complète d'un Stack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4023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68680"/>
            <a:ext cx="78638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ADT : Stack&lt;E&gt;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 : Collection LIFO. Le dernier élément ajouté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est le premier retiré.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de données : E (type générique)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Opérations :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push(element: E) -&gt; void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Pré  : aucune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Post : element est au sommet, size += 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pop() -&gt; 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Pré  : isEmpty() == false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Post : sommet retiré et retourné, size -= 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peek() -&gt; 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Pré  : isEmpty() == false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Post : retourne sommet SANS le retirer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isEmpty() -&gt; boolean   |   size() -&gt; int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Invariants :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size &gt;= 0 toujours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pop/peek impossible si isEmpty() == true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push puis pop retourne le même élément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Préconditions et postconditions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393192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51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Précondition (PRE)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doit être VRAI </a:t>
            </a:r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</a:t>
            </a:r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d'appeler l'opération.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pop() : la pile ne doit pas être vide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get(i) : 0 &lt;= i &lt; size()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remove(key) : key existe dans la map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393192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005840"/>
            <a:ext cx="3931920" cy="5029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051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Postcondition (POST)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64592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est GARANTI comme VRAI </a:t>
            </a:r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</a:t>
            </a:r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l'appel.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push(e) : e est au sommet, size += 1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clear() : isEmpty() == true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add(e) : contains(e) == true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66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Invariant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4069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est TOUJOURS vrai, peu importe quand on regarde. Ex : size &gt;= 0, pas de doublons dans un Set.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9144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Passons à la pratique !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828800" y="1645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 d'un ADT ContactList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31520" y="2377440"/>
            <a:ext cx="7315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: une entreprise veut gérer sa liste de contacts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contact a : nom, email, téléphone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doit pouvoir : ajouter, chercher, supprimer, lister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doublons (même email = même contact)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va d'abord SPÉCIFIER l'ADT, puis l'IMPLÉMENTER en Java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Spec : ADT ContactList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4023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68680"/>
            <a:ext cx="78638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ADT : ContactList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 : Gère une collection de contacts. Pas de doublons.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Recherche par email (identifiant unique).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: Contact { nom: String, email: String, tel: String 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Opérations :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ajouterContact(c: Contact) -&gt; boolean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Pré  : c != null, c.email != null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Post : si email n'existe pas -&gt; ajouté, return true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si email existe déjà  -&gt; non ajouté, return false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rechercherParEmail(email: String) -&gt; Contact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Pré  : email != null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Post : retourne le Contact ou null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supprimerContact(email: String) -&gt; boolean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Pré  : email != null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Post : si trouvé -&gt; supprimé, size -=1, return true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listerContacts() -&gt; List&lt;Contact&gt;   |  taille() -&gt; int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Invariants : size &gt;= 0 | pas de doublons d'email | ordre stable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Implémentation : Contact.java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3931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68680"/>
            <a:ext cx="78638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Contact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nom;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email;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String telephone;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Constructeur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Contact(String nom, String email,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String telephone)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this.nom = nom;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this.email = email;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this.telephone = telephone;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Getters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getNom() { return nom;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getEmail() { return email;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getTelephone() { return telephone; 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@Override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toString()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nom + " | " + email + " | " + telephone;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GestionContacts.java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3931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68680"/>
            <a:ext cx="78638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java.util.LinkedList;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GestionContacts {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LinkedList&lt;Contact&gt; contacts;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GestionContacts() {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this.contacts = new LinkedList&lt;&gt;();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CREATE - Ajouter un contact (pas de doublons)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boolean ajouterContact(Contact c) {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(c == null || c.getEmail() == null) {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false; // Précondition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Vérifier doublon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(rechercherParEmail(c.getEmail()) != null) {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false; // Invariant: pas de doublons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contacts.add(c);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true; // Postcondition: ajouté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GestionContacts.java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3931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68680"/>
            <a:ext cx="78638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READ - Rechercher par email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Contact rechercherParEmail(String email) {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(Contact c : contacts) {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(c.getEmail().equals(email)) {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return c;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}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null;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DELETE - Supprimer par email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boolean supprimerContact(String email) {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Contact c = rechercherParEmail(email);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(c != null) {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contacts.remove(c);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true;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false;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READ - Lister tous les contacts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LinkedList&lt;Contact&gt; listerContacts() {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contacts;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taille() { return contacts.size(); }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la spec au code : le lien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286000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Précondition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17520" y="1005840"/>
            <a:ext cx="365760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108960" y="10058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(c == null) return false;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0" y="10058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en début de méthode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2286000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96596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Postcondition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017520" y="1965960"/>
            <a:ext cx="365760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10"/>
          <p:cNvSpPr/>
          <p:nvPr/>
        </p:nvSpPr>
        <p:spPr>
          <a:xfrm>
            <a:off x="3108960" y="19659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contacts.add(c); return true;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0" y="19659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le résultat promis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2286000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92608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Invariant (pas de doublons)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017520" y="2926080"/>
            <a:ext cx="365760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3108960" y="292608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(rechercher(...) != null) return false;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0" y="29260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AVANT de modifier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2286000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88620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 d'opération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17520" y="3886200"/>
            <a:ext cx="365760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2" name="Text 20"/>
          <p:cNvSpPr/>
          <p:nvPr/>
        </p:nvSpPr>
        <p:spPr>
          <a:xfrm>
            <a:off x="3108960" y="388620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boolean ajouter(Contact c)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0" y="38862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Mêmes paramètres et retour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solidFill>
            <a:srgbClr val="FFF7ED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251960"/>
            <a:ext cx="274320" cy="27432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005840" y="4224528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spec est le CONTRAT. Le code est l'IMPLÉMENTATION du contrat.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 de réflexion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078992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6" name="Text 3"/>
          <p:cNvSpPr/>
          <p:nvPr/>
        </p:nvSpPr>
        <p:spPr>
          <a:xfrm>
            <a:off x="548640" y="107899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" y="10058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séparer la spécification (ADT) de l'implémentation (code) ?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56232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85623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97280" y="1783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on remplace LinkedList par ArrayList dans GestionContacts, est-ce que la spec change 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33472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263347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97280" y="2560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se passe-t-il si on appelle pop() sur un Stack vide et qu'on n'a pas vérifié la précondition ?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3410712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41071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97280" y="33375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 ADT utiliseriez-vous pour gérer une file d'attente au cinéma ? Pourquoi ?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4187952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18795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97280" y="41148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Set et une List peuvent tous les deux stocker des éléments. Quelle est la différence fondamentale ?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C39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73152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554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guidé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Spécifier un ADT StudentDirectory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371600" y="292608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: un lycée veut gérer son annuaire d'étudiants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: 20 minutes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: étape par étape, on fait ensemble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étudiant a : matricule, nom, prenom, classe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: inscrire, rechercher par matricule, lister par classe, supprimer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7432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74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1 : Identifier les données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Posez-vous ces questions 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Quelles informations faut-il stocker 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 est l'identifiant unique 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a-t-il des contraintes sur les données 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846320" y="914400"/>
            <a:ext cx="3840480" cy="22860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005840"/>
            <a:ext cx="34747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Réponse 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: Etudiant {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matricule: String  // unique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nom: String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prenom: String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classe: String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Maintenant, à vous : écrivez cette partie sur votre feuille !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21/28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7432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74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2 : Définir les opérations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opération, définir : nom, paramètres, retour, pré/postconditions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inscrire(e: Etudiant) -&gt; boolean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Pré  : e != null, e.matricule != null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Post : si matricule unique -&gt; ajouté, true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rechercherParMatricule(m: String) -&gt; Etudiant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Pré  : m != null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Post : retourne l'Etudiant ou null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listerParClasse(classe: String) -&gt; List&lt;Etudiant&gt;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Pré  : classe != null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Post : retourne tous les étudiants de cette classe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supprimer(m: String) -&gt; boolean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Pré  : m != null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Post : si trouvé -&gt; supprimé, size -= 1, true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nombreEtudiants() -&gt; int  |  estVide() -&gt; boolean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22/28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7432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74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3 : Définir les invariants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invariants sont les règles TOUJOURS vraies 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nombreEtudiants() &gt;= 0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deux étudiants avec le même matricule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Après inscrire(e), rechercherParMatricule(e.matricule) != null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Après supprimer(m), rechercherParMatricule(m) == null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solidFill>
            <a:srgbClr val="EDE9F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79476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3749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bonus : pouvez-vous trouver un 5e invariant ?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97280" y="4114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: pensez à ce qui se passe avec listerParClasse...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23/28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Récapitulatif du chapitre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100584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ADT définit QUOI (opérations) sans dire COMMENT (implémentation)</a:t>
            </a:r>
            <a:endParaRPr lang="en-US" sz="1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320040" cy="3200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05840" y="160020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5 ADT fondamentaux : List, Stack, Queue, Map, Set</a:t>
            </a:r>
            <a:endParaRPr lang="en-US" sz="15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40280"/>
            <a:ext cx="320040" cy="3200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05840" y="219456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opération a des préconditions et postconditions</a:t>
            </a:r>
            <a:endParaRPr lang="en-US" sz="15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834640"/>
            <a:ext cx="320040" cy="32004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05840" y="278892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invariants sont des règles toujours vraies</a:t>
            </a:r>
            <a:endParaRPr lang="en-US" sz="15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429000"/>
            <a:ext cx="320040" cy="32004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05840" y="338328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design specification est le CONTRAT entre spec et implémentation</a:t>
            </a:r>
            <a:endParaRPr lang="en-US" sz="15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023360"/>
            <a:ext cx="320040" cy="32004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1005840" y="397764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Java, on implémente les ADT avec les collections (LinkedList, HashMap...)</a:t>
            </a:r>
            <a:endParaRPr lang="en-US" sz="1500" dirty="0"/>
          </a:p>
        </p:txBody>
      </p:sp>
      <p:sp>
        <p:nvSpPr>
          <p:cNvPr id="16" name="Text 8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Monde 1 — Ch.1 : Design Specification (P1)</a:t>
            </a:r>
            <a:endParaRPr lang="en-US" sz="900" dirty="0"/>
          </a:p>
        </p:txBody>
      </p:sp>
      <p:sp>
        <p:nvSpPr>
          <p:cNvPr id="17" name="Text 9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24/28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Prochaine étape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474720" cy="1371600"/>
          </a:xfrm>
          <a:prstGeom prst="rect">
            <a:avLst/>
          </a:prstGeom>
          <a:solidFill>
            <a:srgbClr val="065A8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373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7373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web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14400" y="219456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interactif sur les ADT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des opérations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 min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645920"/>
            <a:ext cx="3931920" cy="137160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73736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0" y="1737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Java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937760" y="219456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Implémenter un ADT complet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code fourni + scoring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30-45 min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31520" y="3291840"/>
            <a:ext cx="7955280" cy="1097280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38328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338328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Défi bonus (optionnel)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914400" y="384048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Spécifier et implémenter un ADT ShoppingCart (panier e-commerce) avec gestion des quantités et calcul du total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NOTES ENSEIGNANT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0" y="2743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 pas projeter aux étudiants)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séance (4 périodes = 2h40 effectives)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1 (40 min) — Théorie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1-9 : ADT, opérations, List/Stack/Queue/Map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Poser des questions : "C'est quoi une pile dans la vraie vie ?"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2 (40 min) — Design Spec + Live Coding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10-18 : Spec + implémentation ContactList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CODING : coder Contact.java et GestionContacts.java ensemble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étudiants codent en même temps sur Eclipse/IntelliJ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3 (40 min) — Mini-jeu + Exercice guidé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: mini-jeu web (quiz ADT interactif)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 : exercice guidé StudentDirectory (slides 20-23)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4 (40 min) — Exercice autonome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Java complet (contexte entreprise) avec starter code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bonus pour les plus rapides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NOTES ENSEIGNANT — Pièges courants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Erreurs fréquentes des étudiants 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Confondre ADT et classe Java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Rappeler : l'ADT est le concept, la classe est UNE implémentation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Oublier les préconditions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ce qui se passe quand on appelle get(-1) sans vérification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Penser que tous les ADT se valent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l'exercice "quel ADT pour quel problème" (file d'attente = Queue, etc.)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comprendre l'intérêt de la spec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Analogie du contrat de travail : on définit les responsabilités AVANT de commencer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Points à souligner 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CRUD est un pattern universel (Create Read Update Delete)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Java, List/Map/Set sont des INTERFACES (= ADT), ArrayList/HashMap sont des CLASSES (= implémentation)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lier la théorie à un cas concret d'entreprise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NOTES ENSEIGNANT — Critères P1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P1 : Create a design specification for data structures,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the valid operations that can be carried out on the structures.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 obtenir P1, l'étudiant doit 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au moins 2 ADT différents (ex: List + Map)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ADT, fournir une spécification incluant :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Le nom et la description de l'ADT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Les types de données stockées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Les opérations avec signatures complètes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Les préconditions et postconditions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Les invariants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Expliquer pourquoi chaque opération est valide et utile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Lien avec le devoir (assignment) :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leur rapport, les étudiants devront produire cette spec pour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moins un ADT dans le contexte de leur projet (parking, bibliothèque...)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Ch.1 - Design Specification des ADT (P1)</dc:title>
  <dc:subject>PptxGenJS Presentation</dc:subject>
  <dc:creator>Mme MBI - Unit 19 Gamifié</dc:creator>
  <cp:lastModifiedBy>Mme MBI - Unit 19 Gamifié</cp:lastModifiedBy>
  <cp:revision>1</cp:revision>
  <dcterms:created xsi:type="dcterms:W3CDTF">2026-03-22T03:28:21Z</dcterms:created>
  <dcterms:modified xsi:type="dcterms:W3CDTF">2026-03-22T03:28:21Z</dcterms:modified>
</cp:coreProperties>
</file>